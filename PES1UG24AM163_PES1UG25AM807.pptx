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rfan" userId="55ff3423dcd3f2f0" providerId="LiveId" clId="{F5976B38-F75A-48DA-812F-5D3759D90312}"/>
    <pc:docChg chg="modSld">
      <pc:chgData name="Mohammed Arfan" userId="55ff3423dcd3f2f0" providerId="LiveId" clId="{F5976B38-F75A-48DA-812F-5D3759D90312}" dt="2026-10-13T05:23:31.661" v="29" actId="20577"/>
      <pc:docMkLst>
        <pc:docMk/>
      </pc:docMkLst>
      <pc:sldChg chg="modSp mod">
        <pc:chgData name="Mohammed Arfan" userId="55ff3423dcd3f2f0" providerId="LiveId" clId="{F5976B38-F75A-48DA-812F-5D3759D90312}" dt="2026-10-13T05:23:15.395" v="14" actId="20577"/>
        <pc:sldMkLst>
          <pc:docMk/>
          <pc:sldMk cId="0" sldId="256"/>
        </pc:sldMkLst>
        <pc:spChg chg="mod">
          <ac:chgData name="Mohammed Arfan" userId="55ff3423dcd3f2f0" providerId="LiveId" clId="{F5976B38-F75A-48DA-812F-5D3759D90312}" dt="2026-10-13T05:23:15.395" v="14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Mohammed Arfan" userId="55ff3423dcd3f2f0" providerId="LiveId" clId="{F5976B38-F75A-48DA-812F-5D3759D90312}" dt="2026-10-13T05:23:31.661" v="29" actId="20577"/>
        <pc:sldMkLst>
          <pc:docMk/>
          <pc:sldMk cId="0" sldId="265"/>
        </pc:sldMkLst>
        <pc:spChg chg="mod">
          <ac:chgData name="Mohammed Arfan" userId="55ff3423dcd3f2f0" providerId="LiveId" clId="{F5976B38-F75A-48DA-812F-5D3759D90312}" dt="2026-10-13T05:23:31.661" v="29" actId="20577"/>
          <ac:spMkLst>
            <pc:docMk/>
            <pc:sldMk cId="0" sldId="265"/>
            <ac:spMk id="5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48DEC7"/>
            </a:solidFill>
            <a:ln>
              <a:solidFill>
                <a:srgbClr val="48DEC7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Logistic
Regression</c:v>
                </c:pt>
                <c:pt idx="1">
                  <c:v>LDA</c:v>
                </c:pt>
                <c:pt idx="2">
                  <c:v>SVM</c:v>
                </c:pt>
                <c:pt idx="3">
                  <c:v>Random
Forest</c:v>
                </c:pt>
                <c:pt idx="4">
                  <c:v>Gradient
Boosting</c:v>
                </c:pt>
                <c:pt idx="5">
                  <c:v>Neural
Network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0.63700000000000001</c:v>
                </c:pt>
                <c:pt idx="1">
                  <c:v>0.64900000000000002</c:v>
                </c:pt>
                <c:pt idx="2">
                  <c:v>0.52800000000000002</c:v>
                </c:pt>
                <c:pt idx="3">
                  <c:v>1</c:v>
                </c:pt>
                <c:pt idx="4">
                  <c:v>0.997</c:v>
                </c:pt>
                <c:pt idx="5">
                  <c:v>0.53500000000000003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8DEC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92D-4C6C-9FE8-EA3AD45EB2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A484FF"/>
            </a:solidFill>
            <a:ln>
              <a:solidFill>
                <a:srgbClr val="A484FF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Logistic
Regression</c:v>
                </c:pt>
                <c:pt idx="1">
                  <c:v>LDA</c:v>
                </c:pt>
                <c:pt idx="2">
                  <c:v>SVM</c:v>
                </c:pt>
                <c:pt idx="3">
                  <c:v>Random
Forest</c:v>
                </c:pt>
                <c:pt idx="4">
                  <c:v>Gradient
Boosting</c:v>
                </c:pt>
                <c:pt idx="5">
                  <c:v>Neural
Network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0.53300000000000003</c:v>
                </c:pt>
                <c:pt idx="1">
                  <c:v>0.55900000000000005</c:v>
                </c:pt>
                <c:pt idx="2">
                  <c:v>0.59199999999999997</c:v>
                </c:pt>
                <c:pt idx="3">
                  <c:v>0.57199999999999995</c:v>
                </c:pt>
                <c:pt idx="4">
                  <c:v>0.49299999999999999</c:v>
                </c:pt>
                <c:pt idx="5">
                  <c:v>0.51300000000000001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A484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92D-4C6C-9FE8-EA3AD45EB2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chemeClr val="bg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66560" y="4869180"/>
            <a:ext cx="50292" cy="228600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76288" y="4468551"/>
            <a:ext cx="50292" cy="102985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86016" y="4178262"/>
            <a:ext cx="50292" cy="161043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95744" y="4076389"/>
            <a:ext cx="50292" cy="181418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05472" y="4185989"/>
            <a:ext cx="50292" cy="1594980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0" y="4468549"/>
            <a:ext cx="50292" cy="102986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24928" y="4611992"/>
            <a:ext cx="50292" cy="74297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34656" y="4252704"/>
            <a:ext cx="50292" cy="146155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44383" y="4035004"/>
            <a:ext cx="50292" cy="1896951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54112" y="4021959"/>
            <a:ext cx="50292" cy="192304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0" y="4217764"/>
            <a:ext cx="50292" cy="153143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73568" y="4566492"/>
            <a:ext cx="50292" cy="83397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83296" y="4526967"/>
            <a:ext cx="50292" cy="913025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93024" y="4229419"/>
            <a:ext cx="50292" cy="150812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02752" y="4094784"/>
            <a:ext cx="50292" cy="177739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0" y="4169365"/>
            <a:ext cx="50292" cy="162822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22208" y="4438443"/>
            <a:ext cx="50292" cy="1090072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31936" y="4802108"/>
            <a:ext cx="50292" cy="36274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41664" y="4500965"/>
            <a:ext cx="50292" cy="96502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51392" y="4191153"/>
            <a:ext cx="50292" cy="1584653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0" y="4062617"/>
            <a:ext cx="50292" cy="1841725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70848" y="4146623"/>
            <a:ext cx="50292" cy="167371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80576" y="4412660"/>
            <a:ext cx="50292" cy="114163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90304" y="4659252"/>
            <a:ext cx="50292" cy="64845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00032" y="4291435"/>
            <a:ext cx="50292" cy="1384088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09760" y="4053066"/>
            <a:ext cx="50292" cy="186082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19488" y="4014001"/>
            <a:ext cx="50292" cy="193895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29216" y="4186802"/>
            <a:ext cx="50292" cy="159335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38944" y="4522993"/>
            <a:ext cx="50292" cy="920973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48672" y="4587567"/>
            <a:ext cx="50292" cy="79182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058400" y="4276645"/>
            <a:ext cx="50292" cy="141366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168128" y="4117672"/>
            <a:ext cx="50292" cy="173161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277856" y="4164481"/>
            <a:ext cx="50292" cy="1637997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387584" y="4410779"/>
            <a:ext cx="50292" cy="114540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497312" y="4735443"/>
            <a:ext cx="50292" cy="49607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607040" y="4535534"/>
            <a:ext cx="50292" cy="89589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716768" y="4207993"/>
            <a:ext cx="50292" cy="1550972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826496" y="4053570"/>
            <a:ext cx="50292" cy="1859818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936224" y="4111562"/>
            <a:ext cx="50292" cy="174383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1045952" y="4359628"/>
            <a:ext cx="50292" cy="124770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1155680" y="4708020"/>
            <a:ext cx="50292" cy="550918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1265408" y="4333746"/>
            <a:ext cx="50292" cy="1299466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1375136" y="4076045"/>
            <a:ext cx="50292" cy="181486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1484864" y="4011169"/>
            <a:ext cx="50292" cy="194462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960120"/>
            <a:ext cx="5943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48DEC7"/>
                </a:solidFill>
                <a:latin typeface="Aptos"/>
              </a:rPr>
              <a:t>MACHINE LEARNING  •  EXPERIMENTAL RESULTS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1554480"/>
            <a:ext cx="6492240" cy="1600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3200" b="1">
                <a:solidFill>
                  <a:srgbClr val="F5F7FC"/>
                </a:solidFill>
                <a:latin typeface="Aptos"/>
              </a:rPr>
              <a:t>Predicting Hit Songs
Using Repeated Chorus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3401568"/>
            <a:ext cx="585216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0">
                <a:solidFill>
                  <a:srgbClr val="B1BCCF"/>
                </a:solidFill>
                <a:latin typeface="Aptos"/>
              </a:rPr>
              <a:t>Can the sound of a chorus tell us whether a song becomes a hit?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" y="4572000"/>
            <a:ext cx="1627632" cy="713232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32688" y="4681728"/>
            <a:ext cx="1371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1">
                <a:solidFill>
                  <a:srgbClr val="B1BCCF"/>
                </a:solidFill>
                <a:latin typeface="Aptos"/>
              </a:rPr>
              <a:t>DATASET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4901184"/>
            <a:ext cx="15087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1">
                <a:solidFill>
                  <a:srgbClr val="48DEC7"/>
                </a:solidFill>
                <a:latin typeface="Aptos"/>
              </a:rPr>
              <a:t>756 songs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06040" y="4572000"/>
            <a:ext cx="1627632" cy="713232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34056" y="4681728"/>
            <a:ext cx="1371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1">
                <a:solidFill>
                  <a:srgbClr val="B1BCCF"/>
                </a:solidFill>
                <a:latin typeface="Aptos"/>
              </a:rPr>
              <a:t>FEATURES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34056" y="4901184"/>
            <a:ext cx="15087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1">
                <a:solidFill>
                  <a:srgbClr val="A484FF"/>
                </a:solidFill>
                <a:latin typeface="Aptos"/>
              </a:rPr>
              <a:t>518 audio features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09160" y="4572000"/>
            <a:ext cx="1691640" cy="713232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37176" y="4681728"/>
            <a:ext cx="13716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1">
                <a:solidFill>
                  <a:srgbClr val="B1BCCF"/>
                </a:solidFill>
                <a:latin typeface="Aptos"/>
              </a:rPr>
              <a:t>MODELS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37176" y="4901184"/>
            <a:ext cx="15087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1">
                <a:solidFill>
                  <a:srgbClr val="FFAD68"/>
                </a:solidFill>
                <a:latin typeface="Aptos"/>
              </a:rPr>
              <a:t>6 classifiers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0289" y="5640593"/>
            <a:ext cx="3657600" cy="5827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b="0" dirty="0">
                <a:solidFill>
                  <a:srgbClr val="B1BCCF"/>
                </a:solidFill>
                <a:latin typeface="Aptos"/>
              </a:rPr>
              <a:t>Mohammed Arfan Asgar (PES1UG24AM163)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solidFill>
                  <a:srgbClr val="B1BCCF"/>
                </a:solidFill>
                <a:latin typeface="Aptos"/>
              </a:rPr>
              <a:t>Pavitra B(PES1UG25AM807)</a:t>
            </a:r>
            <a:endParaRPr sz="1200" b="0" dirty="0">
              <a:solidFill>
                <a:srgbClr val="B1BC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01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We test whether repeated-chorus audio features contain useful signals for hit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74720" cy="233172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221992"/>
            <a:ext cx="307238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1">
                <a:solidFill>
                  <a:srgbClr val="48DEC7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51760"/>
            <a:ext cx="3072384" cy="16184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0">
                <a:solidFill>
                  <a:srgbClr val="F5F7FC"/>
                </a:solidFill>
                <a:latin typeface="Aptos"/>
              </a:rPr>
              <a:t>A chorus is often the most memorable part of a song. Could its measurable audio characteristics help distinguish hits from non-hits?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057400"/>
            <a:ext cx="3474720" cy="233172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221992"/>
            <a:ext cx="307238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1">
                <a:solidFill>
                  <a:srgbClr val="A484FF"/>
                </a:solidFill>
                <a:latin typeface="Aptos"/>
              </a:rPr>
              <a:t>THE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072384" cy="16184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>
                <a:solidFill>
                  <a:srgbClr val="F5F7FC"/>
                </a:solidFill>
                <a:latin typeface="Aptos"/>
              </a:rPr>
              <a:t>Binary classification
Label = 1  →  hit
Label = 0  →  non-hit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057400"/>
            <a:ext cx="3429000" cy="233172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2221992"/>
            <a:ext cx="30266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1">
                <a:solidFill>
                  <a:srgbClr val="FFAD68"/>
                </a:solidFill>
                <a:latin typeface="Aptos"/>
              </a:rPr>
              <a:t>THE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51760"/>
            <a:ext cx="3026664" cy="16184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0">
                <a:solidFill>
                  <a:srgbClr val="F5F7FC"/>
                </a:solidFill>
                <a:latin typeface="Aptos"/>
              </a:rPr>
              <a:t>Compare six classifiers using the same train/test split and evaluate accuracy, precision, recall, and F1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698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>
                <a:solidFill>
                  <a:srgbClr val="B1BCCF"/>
                </a:solidFill>
                <a:latin typeface="Aptos"/>
              </a:rPr>
              <a:t>Important framing: audio features are only one possible influence on popularity.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02  /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What went into 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The current notebook uses a precomputed feature table rather than reprocessing raw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828800" cy="12344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554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500" b="1">
                <a:solidFill>
                  <a:srgbClr val="48DEC7"/>
                </a:solidFill>
                <a:latin typeface="Aptos"/>
              </a:rPr>
              <a:t>756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15184"/>
            <a:ext cx="1600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B1BCCF"/>
                </a:solidFill>
                <a:latin typeface="Aptos"/>
              </a:rPr>
              <a:t>songs /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74519"/>
            <a:ext cx="1828800" cy="12344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2084831"/>
            <a:ext cx="1554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500" b="1">
                <a:solidFill>
                  <a:srgbClr val="A484FF"/>
                </a:solidFill>
                <a:latin typeface="Aptos"/>
              </a:rPr>
              <a:t>518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615184"/>
            <a:ext cx="1600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B1BCCF"/>
                </a:solidFill>
                <a:latin typeface="Aptos"/>
              </a:rPr>
              <a:t>numerical audio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874519"/>
            <a:ext cx="1828800" cy="12344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2084831"/>
            <a:ext cx="1554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500" b="1">
                <a:solidFill>
                  <a:srgbClr val="FFAD68"/>
                </a:solidFill>
                <a:latin typeface="Aptos"/>
              </a:rPr>
              <a:t>80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615184"/>
            <a:ext cx="1600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B1BCCF"/>
                </a:solidFill>
                <a:latin typeface="Aptos"/>
              </a:rPr>
              <a:t>train–test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874519"/>
            <a:ext cx="1828800" cy="12344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2084831"/>
            <a:ext cx="1554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500" b="1">
                <a:solidFill>
                  <a:srgbClr val="75E19A"/>
                </a:solidFill>
                <a:latin typeface="Aptos"/>
              </a:rPr>
              <a:t>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615184"/>
            <a:ext cx="1600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B1BCCF"/>
                </a:solidFill>
                <a:latin typeface="Aptos"/>
              </a:rPr>
              <a:t>random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5074920" cy="160020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685032"/>
            <a:ext cx="467258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48DEC7"/>
                </a:solidFill>
                <a:latin typeface="Aptos"/>
              </a:rPr>
              <a:t>FEATURE FAMILIES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114800"/>
            <a:ext cx="4672583" cy="8869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F5F7FC"/>
                </a:solidFill>
                <a:latin typeface="Aptos"/>
              </a:rPr>
              <a:t>Chroma • MFCCs • RMS energy • spectral centroid/bandwidth/contrast/rolloff • tonnetz • zero-crossing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40"/>
            <a:ext cx="5074920" cy="160020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3685032"/>
            <a:ext cx="467258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484FF"/>
                </a:solidFill>
                <a:latin typeface="Aptos"/>
              </a:rPr>
              <a:t>TARGET &amp;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114800"/>
            <a:ext cx="4672583" cy="8869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F5F7FC"/>
                </a:solidFill>
                <a:latin typeface="Aptos"/>
              </a:rPr>
              <a:t>Label is the binary target. Artist/title metadata and audio path columns are excluded from model inputs.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7899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B1BCCF"/>
                </a:solidFill>
                <a:latin typeface="Aptos"/>
              </a:rPr>
              <a:t>Dataset version note: this file contains 756 songs, which differs from the 554-song dataset described in the reference study.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03  / 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Experimental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The notebook selects features, splits the data, trains classifiers, then compares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423160"/>
            <a:ext cx="196596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5877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48DEC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063240"/>
            <a:ext cx="1645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5F7FC"/>
                </a:solidFill>
                <a:latin typeface="Aptos"/>
              </a:rPr>
              <a:t>Load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566160"/>
            <a:ext cx="1645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B1BCCF"/>
                </a:solidFill>
                <a:latin typeface="Aptos"/>
              </a:rPr>
              <a:t>756 rows • 518 numerical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3108960"/>
            <a:ext cx="25603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48DEC7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423160"/>
            <a:ext cx="196596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25877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A484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3063240"/>
            <a:ext cx="1645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5F7FC"/>
                </a:solidFill>
                <a:latin typeface="Aptos"/>
              </a:rPr>
              <a:t>PCA-based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3566160"/>
            <a:ext cx="1645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B1BCCF"/>
                </a:solidFill>
                <a:latin typeface="Aptos"/>
              </a:rPr>
              <a:t>168 original features 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3108960"/>
            <a:ext cx="25603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48DEC7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423160"/>
            <a:ext cx="196596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49824" y="25877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FFAD6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3063240"/>
            <a:ext cx="1645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5F7FC"/>
                </a:solidFill>
                <a:latin typeface="Aptos"/>
              </a:rPr>
              <a:t>Train/test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3566160"/>
            <a:ext cx="1645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B1BCCF"/>
                </a:solidFill>
                <a:latin typeface="Aptos"/>
              </a:rPr>
              <a:t>604 train • 152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3108960"/>
            <a:ext cx="25603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48DEC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2423160"/>
            <a:ext cx="196596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35823" y="25877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75E19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3" y="3063240"/>
            <a:ext cx="1645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5F7FC"/>
                </a:solidFill>
                <a:latin typeface="Aptos"/>
              </a:rPr>
              <a:t>Fit 6 classifiers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3" y="3566160"/>
            <a:ext cx="1645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B1BCCF"/>
                </a:solidFill>
                <a:latin typeface="Aptos"/>
              </a:rPr>
              <a:t>Same selected inputs and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3108960"/>
            <a:ext cx="25603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48DEC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7232" y="2423160"/>
            <a:ext cx="196596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21824" y="2587752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 b="1">
                <a:solidFill>
                  <a:srgbClr val="48DEC7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3063240"/>
            <a:ext cx="1645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5F7FC"/>
                </a:solidFill>
                <a:latin typeface="Aptos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3566160"/>
            <a:ext cx="16459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B1BCCF"/>
                </a:solidFill>
                <a:latin typeface="Aptos"/>
              </a:rPr>
              <a:t>Accuracy • Precision • Recall •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1060704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FAD68"/>
                </a:solidFill>
                <a:latin typeface="Aptos"/>
              </a:rPr>
              <a:t>Caution: feature selection was performed before the split, so test-set information may influence which features were selected.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04  / 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Six classifiers, one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All six models were evaluated using the notebook’s recorded 80/20 split.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08483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48DEC7"/>
                </a:solidFill>
                <a:latin typeface="Aptos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51460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Linear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3168" y="208483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A484FF"/>
                </a:solidFill>
                <a:latin typeface="Aptos"/>
              </a:rPr>
              <a:t>LDA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51460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Linear discriminant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92024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67928" y="208483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FAD68"/>
                </a:solidFill>
                <a:latin typeface="Aptos"/>
              </a:rPr>
              <a:t>SVM (RBF)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51460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Nonlinear decision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77647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75E19A"/>
                </a:solidFill>
                <a:latin typeface="Aptos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20624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Ensemble of decision trees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1188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377647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F7080"/>
                </a:solidFill>
                <a:latin typeface="Aptos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420624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Sequential tree ensemble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611880"/>
            <a:ext cx="3383280" cy="1298448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67928" y="3776472"/>
            <a:ext cx="298094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48DEC7"/>
                </a:solidFill>
                <a:latin typeface="Aptos"/>
              </a:rPr>
              <a:t>Neural Network (MLP)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4206240"/>
            <a:ext cx="2980944" cy="58521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Multilayer perceptron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669280"/>
            <a:ext cx="1069848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 dirty="0">
                <a:solidFill>
                  <a:srgbClr val="B1BCCF"/>
                </a:solidFill>
                <a:latin typeface="Aptos"/>
              </a:rPr>
              <a:t>Reported metrics: accuracy, precision, recall, and F1 score</a:t>
            </a:r>
            <a:r>
              <a:rPr lang="en-IN" sz="1200" b="0" dirty="0">
                <a:solidFill>
                  <a:srgbClr val="B1BCCF"/>
                </a:solidFill>
                <a:latin typeface="Aptos"/>
              </a:rPr>
              <a:t> - </a:t>
            </a:r>
            <a:r>
              <a:rPr sz="1200" b="0" dirty="0">
                <a:solidFill>
                  <a:srgbClr val="B1BCCF"/>
                </a:solidFill>
                <a:latin typeface="Aptos"/>
              </a:rPr>
              <a:t>for both training and test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05  /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How did the models perform?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Scores from the uploaded notebook’s six-model results table; rounded to three decimals.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664040"/>
              </p:ext>
            </p:extLst>
          </p:nvPr>
        </p:nvGraphicFramePr>
        <p:xfrm>
          <a:off x="685800" y="1828800"/>
          <a:ext cx="103327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Train acc.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Test acc.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Test precision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Test recall</a:t>
                      </a:r>
                    </a:p>
                  </a:txBody>
                  <a:tcPr>
                    <a:solidFill>
                      <a:srgbClr val="20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0.637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0.533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0.553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0.530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0.579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LDA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0.649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0.559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rPr dirty="0"/>
                        <a:t>0.573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0.556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0.592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SVM (RBF)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0.528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t>0.592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8DEC7"/>
                          </a:solidFill>
                          <a:latin typeface="Aptos"/>
                        </a:defRPr>
                      </a:pPr>
                      <a:r>
                        <a:rPr sz="1000" kern="1200" dirty="0">
                          <a:solidFill>
                            <a:srgbClr val="F5F7FC"/>
                          </a:solidFill>
                          <a:latin typeface="Aptos"/>
                          <a:ea typeface="+mn-ea"/>
                          <a:cs typeface="+mn-cs"/>
                        </a:rPr>
                        <a:t>0.587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rPr sz="1000" b="1" kern="1200" dirty="0">
                          <a:solidFill>
                            <a:srgbClr val="48DEC7"/>
                          </a:solidFill>
                          <a:latin typeface="Aptos"/>
                          <a:ea typeface="+mn-ea"/>
                          <a:cs typeface="+mn-cs"/>
                        </a:rPr>
                        <a:t>0.595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0.579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1.000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0.572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0.564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0.575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0.553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0.997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0.493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0.490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0.493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0.487</a:t>
                      </a:r>
                    </a:p>
                  </a:txBody>
                  <a:tcPr marR="45720" anchor="ctr">
                    <a:solidFill>
                      <a:srgbClr val="18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Neural Network (MLP)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0.535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0.513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rPr sz="1000" b="1" kern="1200" dirty="0">
                          <a:solidFill>
                            <a:srgbClr val="48DEC7"/>
                          </a:solidFill>
                          <a:latin typeface="Aptos"/>
                          <a:ea typeface="+mn-ea"/>
                          <a:cs typeface="+mn-cs"/>
                        </a:rPr>
                        <a:t>0.630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t>0.508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000">
                          <a:solidFill>
                            <a:srgbClr val="F5F7FC"/>
                          </a:solidFill>
                          <a:latin typeface="Aptos"/>
                        </a:defRPr>
                      </a:pPr>
                      <a:r>
                        <a:rPr sz="1000" b="1" kern="1200" dirty="0">
                          <a:solidFill>
                            <a:srgbClr val="48DEC7"/>
                          </a:solidFill>
                          <a:latin typeface="Aptos"/>
                          <a:ea typeface="+mn-ea"/>
                          <a:cs typeface="+mn-cs"/>
                        </a:rPr>
                        <a:t>0.829</a:t>
                      </a:r>
                    </a:p>
                  </a:txBody>
                  <a:tcPr marR="45720" anchor="ctr">
                    <a:solidFill>
                      <a:srgbClr val="0D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650992"/>
            <a:ext cx="10789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48DEC7"/>
                </a:solidFill>
                <a:latin typeface="Aptos"/>
              </a:rPr>
              <a:t>Best test accuracy: SVM (0.592)     •     Best test F1: Neural Network (0.630)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06  / 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Training vs. test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Large gaps can signal overfitting; test scores are the more relevant estimate of generalisation.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920285"/>
              </p:ext>
            </p:extLst>
          </p:nvPr>
        </p:nvGraphicFramePr>
        <p:xfrm>
          <a:off x="685800" y="1828800"/>
          <a:ext cx="7406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965960"/>
            <a:ext cx="2971800" cy="114300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67928" y="2130552"/>
            <a:ext cx="25694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48DEC7"/>
                </a:solidFill>
                <a:latin typeface="Aptos"/>
              </a:rPr>
              <a:t>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928" y="2560320"/>
            <a:ext cx="2569464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Highest test accuracy: 59.2%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3337560"/>
            <a:ext cx="2971800" cy="114300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67928" y="3502152"/>
            <a:ext cx="25694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484FF"/>
                </a:solidFill>
                <a:latin typeface="Aptos"/>
              </a:rPr>
              <a:t>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3931920"/>
            <a:ext cx="2569464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F5F7FC"/>
                </a:solidFill>
                <a:latin typeface="Aptos"/>
              </a:rPr>
              <a:t>Highest test F1: 0.630; recall: 0.829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4709160"/>
            <a:ext cx="2971800" cy="114300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67928" y="4873752"/>
            <a:ext cx="25694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FFAD68"/>
                </a:solidFill>
                <a:latin typeface="Aptos"/>
              </a:rPr>
              <a:t>Tree ensembles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5303520"/>
            <a:ext cx="2569464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F5F7FC"/>
                </a:solidFill>
                <a:latin typeface="Aptos"/>
              </a:rPr>
              <a:t>Train accuracy near 100%, but weaker test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07  / 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What do the results tell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The best model depends on which evaluation metric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42900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039112"/>
            <a:ext cx="30266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48DEC7"/>
                </a:solidFill>
                <a:latin typeface="Aptos"/>
              </a:rPr>
              <a:t>SVM LEADS 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468879"/>
            <a:ext cx="3026664" cy="1161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F5F7FC"/>
                </a:solidFill>
                <a:latin typeface="Aptos"/>
              </a:rPr>
              <a:t>Test accuracy = 0.592
Test F1 = 0.587
It is the strongest overall test-accuracy result in this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2900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2039112"/>
            <a:ext cx="3026664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484FF"/>
                </a:solidFill>
                <a:latin typeface="Aptos"/>
              </a:rPr>
              <a:t>MLP LEADS ON F1 &amp;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68879"/>
            <a:ext cx="3026664" cy="1161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F5F7FC"/>
                </a:solidFill>
                <a:latin typeface="Aptos"/>
              </a:rPr>
              <a:t>Test F1 = 0.630
Test recall = 0.829
But precision is 0.508 and accuracy is 0.513.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874519"/>
            <a:ext cx="3429000" cy="1874519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039112"/>
            <a:ext cx="3026664" cy="286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 dirty="0">
                <a:solidFill>
                  <a:srgbClr val="FFAD68"/>
                </a:solidFill>
                <a:latin typeface="Aptos"/>
              </a:rPr>
              <a:t>OVERFITTING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79"/>
            <a:ext cx="3026664" cy="1161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F5F7FC"/>
                </a:solidFill>
                <a:latin typeface="Aptos"/>
              </a:rPr>
              <a:t>Random Forest: 1.000 train vs 0.572 test accuracy.
Gradient Boosting: 0.997 vs 0.493.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371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1">
                <a:solidFill>
                  <a:srgbClr val="48DEC7"/>
                </a:solidFill>
                <a:latin typeface="Aptos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28032"/>
            <a:ext cx="1069848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1">
                <a:solidFill>
                  <a:srgbClr val="F5F7FC"/>
                </a:solidFill>
                <a:latin typeface="Aptos"/>
              </a:rPr>
              <a:t>Chorus features may contain some predictive signal, but this experiment does not show that they are sufficient to predict hit status reliably.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5303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48DEC7"/>
                </a:solidFill>
                <a:latin typeface="Aptos"/>
              </a:rPr>
              <a:t>08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5F7FC"/>
                </a:solidFill>
                <a:latin typeface="Aptos"/>
              </a:rPr>
              <a:t>What should happen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B1BCCF"/>
                </a:solidFill>
                <a:latin typeface="Aptos"/>
              </a:rPr>
              <a:t>These results are preliminary because the current experiment has methodological limitations.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5074920" cy="30632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993392"/>
            <a:ext cx="4672583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FFAD68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423160"/>
            <a:ext cx="4672583" cy="10556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 dirty="0">
                <a:solidFill>
                  <a:srgbClr val="F5F7FC"/>
                </a:solidFill>
                <a:latin typeface="Aptos"/>
              </a:rPr>
              <a:t>• Dataset differs from the reference study (756 vs. 554 songs)
• Single 80/20 split; no cross-validation
• Feature selection before splitting creates data leakage risk
• No systematic hyperparameter tuning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074920" cy="306324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993392"/>
            <a:ext cx="4672583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48DEC7"/>
                </a:solidFill>
                <a:latin typeface="Aptos"/>
              </a:rPr>
              <a:t>NEXT STEPS</a:t>
            </a:r>
            <a:r>
              <a:rPr lang="en-IN" sz="1600" b="1" dirty="0">
                <a:solidFill>
                  <a:srgbClr val="48DEC7"/>
                </a:solidFill>
                <a:latin typeface="Aptos"/>
              </a:rPr>
              <a:t> / FUTURE WORK</a:t>
            </a:r>
          </a:p>
          <a:p>
            <a:endParaRPr sz="1600" b="1" dirty="0">
              <a:solidFill>
                <a:srgbClr val="48DEC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3368" y="2423160"/>
            <a:ext cx="4672583" cy="23500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F5F7FC"/>
                </a:solidFill>
                <a:latin typeface="Aptos"/>
              </a:rPr>
              <a:t>1. Fit feature selection on training data only
2. Use stratified cross-validation
3. Tune model hyperparameters
4. Report mean scores and variability
5. Keep result tables, plots, and CSV exports synchronized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94960"/>
            <a:ext cx="1060704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1">
                <a:solidFill>
                  <a:srgbClr val="F5F7FC"/>
                </a:solidFill>
                <a:latin typeface="Aptos"/>
              </a:rPr>
              <a:t>Conclusion: evaluate chorus-based prediction as a promising experiment, not proof that a good chorus alone makes a hit.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28816"/>
            <a:ext cx="73152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00" b="0">
                <a:solidFill>
                  <a:srgbClr val="B1BCCF"/>
                </a:solidFill>
                <a:latin typeface="Aptos"/>
              </a:rPr>
              <a:t>PREDICTING HIT SONGS  /  EXPERIMENTAL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3657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B1BCC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F62EB-26CC-2293-B70E-61F6F824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EAFC25-32F4-5174-1961-BADEF8E091CE}"/>
              </a:ext>
            </a:extLst>
          </p:cNvPr>
          <p:cNvSpPr/>
          <p:nvPr/>
        </p:nvSpPr>
        <p:spPr>
          <a:xfrm>
            <a:off x="749808" y="1828800"/>
            <a:ext cx="10771632" cy="4202130"/>
          </a:xfrm>
          <a:prstGeom prst="roundRect">
            <a:avLst/>
          </a:prstGeom>
          <a:solidFill>
            <a:srgbClr val="181E31"/>
          </a:solidFill>
          <a:ln>
            <a:solidFill>
              <a:srgbClr val="20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978FA-538E-58AC-2860-A959E633D559}"/>
              </a:ext>
            </a:extLst>
          </p:cNvPr>
          <p:cNvSpPr txBox="1"/>
          <p:nvPr/>
        </p:nvSpPr>
        <p:spPr>
          <a:xfrm>
            <a:off x="640080" y="347472"/>
            <a:ext cx="530352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 dirty="0">
                <a:solidFill>
                  <a:srgbClr val="48DEC7"/>
                </a:solidFill>
                <a:latin typeface="Aptos"/>
              </a:rPr>
              <a:t>0</a:t>
            </a:r>
            <a:r>
              <a:rPr lang="en-IN" sz="1000" b="1" dirty="0">
                <a:solidFill>
                  <a:srgbClr val="48DEC7"/>
                </a:solidFill>
                <a:latin typeface="Aptos"/>
              </a:rPr>
              <a:t>9</a:t>
            </a:r>
            <a:r>
              <a:rPr sz="1000" b="1" dirty="0">
                <a:solidFill>
                  <a:srgbClr val="48DEC7"/>
                </a:solidFill>
                <a:latin typeface="Aptos"/>
              </a:rPr>
              <a:t>  /  </a:t>
            </a:r>
            <a:r>
              <a:rPr lang="en-IN" sz="1000" b="1" dirty="0">
                <a:solidFill>
                  <a:srgbClr val="48DEC7"/>
                </a:solidFill>
                <a:latin typeface="Aptos"/>
              </a:rPr>
              <a:t>RESULTS</a:t>
            </a:r>
            <a:endParaRPr sz="1000" b="1" dirty="0">
              <a:solidFill>
                <a:srgbClr val="48DEC7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DF5B-18C2-4903-F502-11BC8D826986}"/>
              </a:ext>
            </a:extLst>
          </p:cNvPr>
          <p:cNvSpPr txBox="1"/>
          <p:nvPr/>
        </p:nvSpPr>
        <p:spPr>
          <a:xfrm>
            <a:off x="640080" y="788540"/>
            <a:ext cx="109728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IN" sz="3200" dirty="0">
                <a:solidFill>
                  <a:schemeClr val="accent6"/>
                </a:solidFill>
              </a:rPr>
              <a:t>SUMMARY AND CONCLUSION</a:t>
            </a:r>
            <a:endParaRPr sz="3200" b="1" dirty="0">
              <a:solidFill>
                <a:schemeClr val="accent6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E20F4-F261-0782-3195-18D433FF026C}"/>
              </a:ext>
            </a:extLst>
          </p:cNvPr>
          <p:cNvSpPr txBox="1"/>
          <p:nvPr/>
        </p:nvSpPr>
        <p:spPr>
          <a:xfrm>
            <a:off x="1122862" y="2078076"/>
            <a:ext cx="10025523" cy="29232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Our experiments show that repeated-chorus audio features contain some potential for predicting song popularity. Among the six models tested, SVM achieved the highest test accuracy of 59.2%, while the Neural Network achieved the highest F1-score of 0.630. However, the relatively modest test performance suggests that chorus features alone may not reliably predict whether a song becomes a hit. Other factors, such as marketing, artist popularity, lyrics, and audience preferences, may also influence a song’s success. Further experimentation with cross-validation, improved feature selection, and hyperparameter tuning is needed to validate these findings.</a:t>
            </a:r>
            <a:endParaRPr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45DABD-0BE0-4298-1B90-49521AE8A76E}"/>
              </a:ext>
            </a:extLst>
          </p:cNvPr>
          <p:cNvSpPr txBox="1"/>
          <p:nvPr/>
        </p:nvSpPr>
        <p:spPr>
          <a:xfrm>
            <a:off x="11155680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lang="en-IN" sz="900" b="1" dirty="0">
                <a:solidFill>
                  <a:srgbClr val="B1BCCF"/>
                </a:solidFill>
                <a:latin typeface="Aptos"/>
              </a:rPr>
              <a:t>10</a:t>
            </a:r>
            <a:endParaRPr sz="900" b="1" dirty="0">
              <a:solidFill>
                <a:srgbClr val="B1BCC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1314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5074920"/>
            <a:ext cx="64008" cy="274320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24712" y="4805742"/>
            <a:ext cx="64008" cy="81267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35024" y="4594939"/>
            <a:ext cx="64008" cy="123428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45336" y="4488227"/>
            <a:ext cx="64008" cy="144770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55648" y="4508746"/>
            <a:ext cx="64008" cy="1406666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65960" y="4652048"/>
            <a:ext cx="64008" cy="1120062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76272" y="4887055"/>
            <a:ext cx="64008" cy="650048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86584" y="4987036"/>
            <a:ext cx="64008" cy="45008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96896" y="4730346"/>
            <a:ext cx="64008" cy="963466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07208" y="4548382"/>
            <a:ext cx="64008" cy="132739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17520" y="4480605"/>
            <a:ext cx="64008" cy="1462948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27832" y="4541713"/>
            <a:ext cx="64008" cy="1340733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38144" y="4718454"/>
            <a:ext cx="64008" cy="98725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48456" y="4972499"/>
            <a:ext cx="64008" cy="47916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58768" y="4901084"/>
            <a:ext cx="64008" cy="62199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69080" y="4662526"/>
            <a:ext cx="64008" cy="1099107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79392" y="4513401"/>
            <a:ext cx="64008" cy="1397356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9704" y="4486049"/>
            <a:ext cx="64008" cy="145206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0016" y="4586402"/>
            <a:ext cx="64008" cy="125135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10328" y="4792696"/>
            <a:ext cx="64008" cy="83876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120640" y="5060194"/>
            <a:ext cx="64008" cy="303771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30952" y="4818953"/>
            <a:ext cx="64008" cy="78625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541264" y="4603772"/>
            <a:ext cx="64008" cy="121661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51576" y="4490764"/>
            <a:ext cx="64008" cy="144263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61888" y="4504439"/>
            <a:ext cx="64008" cy="1415280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72200" y="4641830"/>
            <a:ext cx="64008" cy="1140498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82512" y="4873142"/>
            <a:ext cx="64008" cy="67787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92824" y="5001626"/>
            <a:ext cx="64008" cy="420906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03136" y="4742450"/>
            <a:ext cx="64008" cy="939258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013448" y="4555375"/>
            <a:ext cx="64008" cy="1313408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23760" y="4480970"/>
            <a:ext cx="64008" cy="1462219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434071" y="4535371"/>
            <a:ext cx="64008" cy="135341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644383" y="4706780"/>
            <a:ext cx="64008" cy="1010599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54696" y="4958025"/>
            <a:ext cx="64008" cy="508108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65008" y="4915219"/>
            <a:ext cx="64008" cy="59372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275320" y="4673257"/>
            <a:ext cx="64008" cy="1077645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485632" y="4518401"/>
            <a:ext cx="64008" cy="138735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695944" y="4484233"/>
            <a:ext cx="64008" cy="145569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906256" y="4578164"/>
            <a:ext cx="64008" cy="126783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116568" y="4779823"/>
            <a:ext cx="64008" cy="864513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326880" y="5045477"/>
            <a:ext cx="64008" cy="333204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37192" y="4832322"/>
            <a:ext cx="64008" cy="75951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747504" y="4612893"/>
            <a:ext cx="64008" cy="119837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957816" y="4493661"/>
            <a:ext cx="64008" cy="1436837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168128" y="4500482"/>
            <a:ext cx="64008" cy="1423194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378440" y="4631878"/>
            <a:ext cx="64008" cy="1160402"/>
          </a:xfrm>
          <a:prstGeom prst="roundRect">
            <a:avLst/>
          </a:prstGeom>
          <a:solidFill>
            <a:srgbClr val="A4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588752" y="4859353"/>
            <a:ext cx="64008" cy="705452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799064" y="5016262"/>
            <a:ext cx="64008" cy="39163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1009376" y="4754759"/>
            <a:ext cx="64008" cy="914641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1219688" y="4562687"/>
            <a:ext cx="64008" cy="1298785"/>
          </a:xfrm>
          <a:prstGeom prst="roundRect">
            <a:avLst/>
          </a:prstGeom>
          <a:solidFill>
            <a:srgbClr val="48D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2512544"/>
            <a:ext cx="10698480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5400" b="1" dirty="0">
                <a:solidFill>
                  <a:srgbClr val="F5F7FC"/>
                </a:solidFill>
                <a:latin typeface="Aptos"/>
              </a:rPr>
              <a:t>THANK YOU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657600"/>
            <a:ext cx="1069848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IN" sz="1300" b="0" dirty="0">
                <a:solidFill>
                  <a:srgbClr val="B1BCCF"/>
                </a:solidFill>
                <a:latin typeface="Aptos"/>
              </a:rPr>
              <a:t>Arfan Asgar (PES1UG24AM163)</a:t>
            </a:r>
            <a:br>
              <a:rPr lang="en-IN" sz="1300" b="0" dirty="0">
                <a:solidFill>
                  <a:srgbClr val="B1BCCF"/>
                </a:solidFill>
                <a:latin typeface="Aptos"/>
              </a:rPr>
            </a:br>
            <a:r>
              <a:rPr lang="en-IN" sz="1300" b="0" dirty="0">
                <a:solidFill>
                  <a:srgbClr val="B1BCCF"/>
                </a:solidFill>
                <a:latin typeface="Aptos"/>
              </a:rPr>
              <a:t>Pavitra B(PES1UG25AM807)</a:t>
            </a:r>
            <a:endParaRPr sz="1300" b="0" dirty="0">
              <a:solidFill>
                <a:srgbClr val="B1BCC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993</Words>
  <Application>Microsoft Office PowerPoint</Application>
  <PresentationFormat>Widescreen</PresentationFormat>
  <Paragraphs>172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Arfan</cp:lastModifiedBy>
  <cp:revision>2</cp:revision>
  <dcterms:created xsi:type="dcterms:W3CDTF">2013-01-27T09:14:16Z</dcterms:created>
  <dcterms:modified xsi:type="dcterms:W3CDTF">2026-10-13T05:23:34Z</dcterms:modified>
  <cp:category/>
</cp:coreProperties>
</file>